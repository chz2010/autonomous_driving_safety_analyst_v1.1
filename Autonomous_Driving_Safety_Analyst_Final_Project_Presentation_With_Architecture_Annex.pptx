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83" r:id="rId13"/>
    <p:sldId id="269" r:id="rId14"/>
    <p:sldId id="281" r:id="rId15"/>
    <p:sldId id="270" r:id="rId16"/>
    <p:sldId id="271" r:id="rId17"/>
    <p:sldId id="272" r:id="rId18"/>
    <p:sldId id="277" r:id="rId19"/>
    <p:sldId id="279" r:id="rId20"/>
    <p:sldId id="278" r:id="rId21"/>
    <p:sldId id="280" r:id="rId22"/>
    <p:sldId id="274" r:id="rId23"/>
    <p:sldId id="282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3"/>
    <p:restoredTop sz="94708"/>
  </p:normalViewPr>
  <p:slideViewPr>
    <p:cSldViewPr snapToGrid="0" snapToObjects="1">
      <p:cViewPr>
        <p:scale>
          <a:sx n="110" d="100"/>
          <a:sy n="110" d="100"/>
        </p:scale>
        <p:origin x="920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7A0D6-D48B-3345-81D3-792B0388FCA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78396-A9CE-1444-99D6-D8E5F627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5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tonomous-car-head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574" y="11575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658368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900" b="1" dirty="0">
                <a:solidFill>
                  <a:srgbClr val="F5F5F5"/>
                </a:solidFill>
                <a:latin typeface="Arial"/>
              </a:rPr>
              <a:t>Autonomous Driving</a:t>
            </a:r>
            <a:br>
              <a:rPr dirty="0"/>
            </a:br>
            <a:r>
              <a:rPr sz="3900" b="1" dirty="0">
                <a:solidFill>
                  <a:srgbClr val="F5F5F5"/>
                </a:solidFill>
                <a:latin typeface="Arial"/>
              </a:rPr>
              <a:t>Safety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1" y="2743200"/>
            <a:ext cx="10348059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dirty="0">
                <a:solidFill>
                  <a:srgbClr val="BEBEBE"/>
                </a:solidFill>
                <a:latin typeface="Arial"/>
              </a:rPr>
              <a:t>Technical RAG assistant for ISO 26262, ISO 21448 (SOTIF), ISO 8800, NCAP/IIHS</a:t>
            </a:r>
            <a:r>
              <a:rPr lang="en-US" sz="1500" b="0" dirty="0">
                <a:solidFill>
                  <a:srgbClr val="BEBEBE"/>
                </a:solidFill>
                <a:latin typeface="Arial"/>
              </a:rPr>
              <a:t>, Hazard and Risk Analysis (HARA)</a:t>
            </a:r>
            <a:r>
              <a:rPr sz="1500" b="0" dirty="0">
                <a:solidFill>
                  <a:srgbClr val="BEBEBE"/>
                </a:solidFill>
                <a:latin typeface="Arial"/>
              </a:rPr>
              <a:t>, AI safety evidence, scenario analysis, item safety cases, and video-grounded evidence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794760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922776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OpenAI premium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0791" y="3794760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3922776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Local Qwen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3794760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922776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LoRA fine-tuning experiment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453128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581144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Standards + video 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0791" y="4453128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4581144"/>
            <a:ext cx="265176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>
                <a:solidFill>
                  <a:srgbClr val="F5F5F5"/>
                </a:solidFill>
                <a:latin typeface="Arial"/>
              </a:rPr>
              <a:t>Whisper STT + optional 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4453128"/>
            <a:ext cx="2971800" cy="438912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4581144"/>
            <a:ext cx="2651760" cy="2139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150" b="1" dirty="0">
                <a:solidFill>
                  <a:srgbClr val="F5F5F5"/>
                </a:solidFill>
                <a:latin typeface="Arial"/>
              </a:rPr>
              <a:t>E</a:t>
            </a:r>
            <a:r>
              <a:rPr sz="1150" b="1" dirty="0">
                <a:solidFill>
                  <a:srgbClr val="F5F5F5"/>
                </a:solidFill>
                <a:latin typeface="Arial"/>
              </a:rPr>
              <a:t>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236208"/>
            <a:ext cx="23774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chemeClr val="bg1"/>
                </a:solidFill>
                <a:latin typeface="Arial"/>
              </a:rPr>
              <a:t>Harn Zhin Chong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HOOK +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Why this is more than 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43434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3434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3619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2880360" cy="186717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A </a:t>
            </a:r>
            <a:r>
              <a:rPr dirty="0" err="1"/>
              <a:t>Streamlit</a:t>
            </a:r>
            <a:r>
              <a:rPr dirty="0"/>
              <a:t> safety analyst grounded in project evidence.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RAG over standards, examples, HARA profiles, dataset notes, and video transcripts.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Three model paths: OpenAI</a:t>
            </a:r>
            <a:r>
              <a:rPr lang="en-US" dirty="0"/>
              <a:t> (GPT-4o)</a:t>
            </a:r>
            <a:r>
              <a:rPr dirty="0"/>
              <a:t>, local Qwen, and Qwen </a:t>
            </a:r>
            <a:r>
              <a:rPr dirty="0" err="1"/>
              <a:t>LoRA</a:t>
            </a:r>
            <a:r>
              <a:rPr dirty="0"/>
              <a:t> experiment.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29000" cy="43434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536192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Portfolio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288036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RAG architecture and prompt conditioning.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Local/private model integration.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Fine-tuning workflow in Colab.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Evaluation with rubric, plots, saved answers, and hallucination checks.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62A89-377C-BDF2-518B-1A47AD1F7D76}"/>
              </a:ext>
            </a:extLst>
          </p:cNvPr>
          <p:cNvSpPr txBox="1"/>
          <p:nvPr/>
        </p:nvSpPr>
        <p:spPr>
          <a:xfrm>
            <a:off x="822960" y="1965960"/>
            <a:ext cx="2880360" cy="295465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dirty="0"/>
              <a:t>• </a:t>
            </a:r>
            <a:r>
              <a:rPr lang="en-US" sz="1400" dirty="0">
                <a:solidFill>
                  <a:srgbClr val="F5F5F5"/>
                </a:solidFill>
                <a:latin typeface="Arial"/>
              </a:rPr>
              <a:t>Creating and reviewing safety-case work products across multiple standards is time-consuming, repetitive, and easy to make inconsistent across functions.</a:t>
            </a:r>
          </a:p>
          <a:p>
            <a:pPr marL="742950" lvl="1" indent="-285750">
              <a:spcAft>
                <a:spcPts val="200"/>
              </a:spcAft>
              <a:buFont typeface="Courier New" panose="02070309020205020404" pitchFamily="49" charset="0"/>
              <a:buChar char="o"/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Overlapped safety standards (core behavior safety standards): </a:t>
            </a:r>
          </a:p>
          <a:p>
            <a:pPr lvl="1"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	ISO 26262, </a:t>
            </a:r>
          </a:p>
          <a:p>
            <a:pPr lvl="1"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	ISO 21448 (SOTIF),</a:t>
            </a:r>
          </a:p>
          <a:p>
            <a:pPr lvl="1"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lang="en-US" sz="1300" dirty="0"/>
              <a:t>	ISO 8800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endParaRPr lang="en-US" sz="1400" dirty="0"/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TECHNICAL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30BD05-54EE-DB46-EBE3-700DD913A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91" y="1038974"/>
            <a:ext cx="8741241" cy="5819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Sources, preprocessing, chunking, and vector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22680"/>
              </p:ext>
            </p:extLst>
          </p:nvPr>
        </p:nvGraphicFramePr>
        <p:xfrm>
          <a:off x="685800" y="1325880"/>
          <a:ext cx="10835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Source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Processing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Storage / Use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ISO </a:t>
                      </a:r>
                      <a:r>
                        <a:rPr lang="en-US" dirty="0"/>
                        <a:t>Standards (ISO 26262. ISO 21448 (SOTIF) and</a:t>
                      </a:r>
                    </a:p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lang="en-US" dirty="0"/>
                        <a:t>ISO 8800)</a:t>
                      </a:r>
                      <a:r>
                        <a:rPr dirty="0"/>
                        <a:t> + </a:t>
                      </a:r>
                      <a:r>
                        <a:rPr lang="en-US" dirty="0"/>
                        <a:t>Synthetic evaluation schemes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Markdown/PDF parsing, chunking, metadata tagging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Chroma standards DB for ISO 26262, ISO 21448, ISO 8800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Safety-case examples</a:t>
                      </a:r>
                      <a:r>
                        <a:rPr lang="en-US" dirty="0"/>
                        <a:t> </a:t>
                      </a:r>
                    </a:p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lang="en-US" dirty="0"/>
                        <a:t>(Synthetic safety-case examples)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Curated worked examples for AEB, lane keeping, LiDAR perception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Retrieved as project-specific evidence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H</a:t>
                      </a:r>
                      <a:r>
                        <a:rPr lang="en-US" dirty="0"/>
                        <a:t>ARA</a:t>
                      </a:r>
                      <a:r>
                        <a:rPr dirty="0"/>
                        <a:t> + dataset profiles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nuScene</a:t>
                      </a:r>
                      <a:r>
                        <a:rPr lang="en-US" dirty="0"/>
                        <a:t> dataset from Kaggle)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Structured risk/evidence snippets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Used for S/E/C rationale and ISO 8800 data risks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YouTube video transcripts</a:t>
                      </a:r>
                      <a:r>
                        <a:rPr lang="en-US" dirty="0"/>
                        <a:t> (84 videos)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Transcript ingestion with timestamps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Video DB for evidence snippets and playback timestamps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434840"/>
            <a:ext cx="5212080" cy="1234440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544568"/>
            <a:ext cx="4992624" cy="1014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Courier New"/>
              </a:rPr>
              <a:t>python ingest_all.py</a:t>
            </a:r>
            <a:br/>
            <a:r>
              <a:rPr sz="1000" b="0">
                <a:solidFill>
                  <a:srgbClr val="F5F5F5"/>
                </a:solidFill>
                <a:latin typeface="Courier New"/>
              </a:rPr>
              <a:t># builds standards DB and video transcript DB</a:t>
            </a:r>
            <a:br/>
            <a:br/>
            <a:r>
              <a:rPr sz="1000" b="0">
                <a:solidFill>
                  <a:srgbClr val="F5F5F5"/>
                </a:solidFill>
                <a:latin typeface="Courier New"/>
              </a:rPr>
              <a:t>Chroma metadata: source, standard, section, video_id, timestamp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434840"/>
            <a:ext cx="5074920" cy="123444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4588224"/>
            <a:ext cx="45720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F5F5F5"/>
                </a:solidFill>
                <a:latin typeface="Arial"/>
              </a:defRPr>
            </a:pPr>
            <a:r>
              <a:rPr dirty="0"/>
              <a:t>• Paid path can combine standards + video evidence.</a:t>
            </a:r>
          </a:p>
          <a:p>
            <a:pPr>
              <a:spcAft>
                <a:spcPts val="200"/>
              </a:spcAft>
              <a:defRPr sz="1250">
                <a:solidFill>
                  <a:srgbClr val="F5F5F5"/>
                </a:solidFill>
                <a:latin typeface="Arial"/>
              </a:defRPr>
            </a:pPr>
            <a:r>
              <a:rPr dirty="0"/>
              <a:t>• Local path can use local standards embeddings to reduce embedding cost.</a:t>
            </a:r>
          </a:p>
          <a:p>
            <a:pPr>
              <a:spcAft>
                <a:spcPts val="200"/>
              </a:spcAft>
              <a:defRPr sz="1250">
                <a:solidFill>
                  <a:srgbClr val="F5F5F5"/>
                </a:solidFill>
                <a:latin typeface="Arial"/>
              </a:defRPr>
            </a:pPr>
            <a:r>
              <a:rPr dirty="0"/>
              <a:t>• Each answer states assumptions and evidence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Q&amp;A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Prompt builder and answer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443484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Prompt conditioning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26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Scopes the answer to selected standards.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Injects a strict lifecycle and HARA answer scheme.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Handles blank structured fields by stating assumptions.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Adds video-evidence intent when the question asks for evidence or failure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20640" cy="1874519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435607"/>
            <a:ext cx="4901183" cy="16550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>
                <a:solidFill>
                  <a:srgbClr val="F5F5F5"/>
                </a:solidFill>
                <a:latin typeface="Courier New"/>
              </a:rPr>
              <a:t>LOCAL_STRICT_ANSWER_SCHEME = """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1. Opening Map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2. Item Definition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3. Functional Decomposition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4. HARA Screening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...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12. Final Safety Argument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"""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520440"/>
            <a:ext cx="5120640" cy="22402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701256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40856"/>
            <a:ext cx="44348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Safety answers must be complete, not conversational summaries.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The schema makes model comparison possible.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The evaluator can check required sections and standards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RAG, audio, video, local model serving,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Tool / component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Chroma vector DB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Stores standards chunks, examples, HARA evidence, and video transcript chunks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OpenAI tools agent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Premium reasoning path with tool calls and review pass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Ollama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Runs local Qwen baseline before fine-tuning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Google Colab + Gradio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Serves the Qwen LoRA adapter endpoint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Whisper STT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Speech request input through uploaded/recorded audio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OpenAI TTS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Optional audio answer output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Evaluation scripts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Generate reports, saved answers, score plots, and rubric heatmaps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REASONING BACKENDS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Why the app supports three model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EBEBE"/>
                </a:solidFill>
                <a:latin typeface="Arial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491589"/>
              </p:ext>
            </p:extLst>
          </p:nvPr>
        </p:nvGraphicFramePr>
        <p:xfrm>
          <a:off x="685800" y="1325880"/>
          <a:ext cx="108356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Backend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Strength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Trade-off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Best use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OpenAI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Best reasoning, tools, video + standards retrieval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Paid API cost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Final/premium analysis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Local Qwen base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Free/private path, strong with RAG + answer schema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Slower; no hosted API by default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Cost-sensitive use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Qwen </a:t>
                      </a:r>
                      <a:r>
                        <a:rPr dirty="0" err="1"/>
                        <a:t>LoRA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Shows fine-tuning workflow and adapter learning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 err="1"/>
                        <a:t>Colab</a:t>
                      </a:r>
                      <a:r>
                        <a:rPr dirty="0"/>
                        <a:t> endpoint/</a:t>
                      </a:r>
                      <a:r>
                        <a:rPr lang="en-US" dirty="0"/>
                        <a:t>Out of Memory (OOM)</a:t>
                      </a:r>
                      <a:r>
                        <a:rPr dirty="0"/>
                        <a:t> risk; small</a:t>
                      </a:r>
                      <a:r>
                        <a:rPr lang="en-US" dirty="0"/>
                        <a:t>(30)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synthetic </a:t>
                      </a:r>
                      <a:r>
                        <a:rPr dirty="0"/>
                        <a:t>data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Portfolio experiment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3703320"/>
            <a:ext cx="5074920" cy="15544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844808"/>
            <a:ext cx="16459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Key 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64744"/>
            <a:ext cx="4480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Fine-tuning is not automatically better than RAG.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Local Qwen base performs strongly when prompt + retrieval + guardrails are disciplined.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03320"/>
            <a:ext cx="4663440" cy="1554480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3813048"/>
            <a:ext cx="4443983" cy="13350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>
                <a:solidFill>
                  <a:srgbClr val="F5F5F5"/>
                </a:solidFill>
                <a:latin typeface="Courier New"/>
              </a:rPr>
              <a:t>if model_key == "openai": run_agent_tools()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if model_key == "local_base": run_ollama_rag()</a:t>
            </a:r>
            <a:br/>
            <a:r>
              <a:rPr sz="950" b="0">
                <a:solidFill>
                  <a:srgbClr val="F5F5F5"/>
                </a:solidFill>
                <a:latin typeface="Courier New"/>
              </a:rPr>
              <a:t>if model_key == "local_lora": call_gradio_lora()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SAFETY ANSWER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What a good answer must contain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dirty="0">
                <a:solidFill>
                  <a:srgbClr val="BEBEBE"/>
                </a:solidFill>
                <a:latin typeface="Arial"/>
              </a:rPr>
              <a:t>0</a:t>
            </a:r>
            <a:r>
              <a:rPr lang="en-US" sz="1000" b="0" dirty="0">
                <a:solidFill>
                  <a:srgbClr val="BEBEBE"/>
                </a:solidFill>
                <a:latin typeface="Arial"/>
              </a:rPr>
              <a:t>8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795043"/>
              </p:ext>
            </p:extLst>
          </p:nvPr>
        </p:nvGraphicFramePr>
        <p:xfrm>
          <a:off x="777240" y="123444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Section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Expected content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Opening map / item definition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System boundary, ODD, interfaces, assumptions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Functional decomposition + HARA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Function-level hazards, S/E/C rationale, ASIL/QM outcome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26262 lifecycle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Safety goals, FSC/TSC, Parts 2-9 evidence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21448 (SOTIF)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Performance limits, triggering conditions, </a:t>
                      </a:r>
                      <a:r>
                        <a:rPr lang="en-US" dirty="0"/>
                        <a:t>Operational Design Domain (ODD)</a:t>
                      </a:r>
                      <a:r>
                        <a:rPr dirty="0"/>
                        <a:t> gaps, residual risk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8800 assurance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Data gaps, robustness, uncertainty, OOD, release gates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V&amp;V and final argument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rPr dirty="0"/>
                        <a:t>Test matrix, production controls, worst case, safety argument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Transparent scoring for standards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000" dirty="0">
                <a:solidFill>
                  <a:srgbClr val="BEBEBE"/>
                </a:solidFill>
                <a:latin typeface="Arial"/>
              </a:rPr>
              <a:t>08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94960" cy="457200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Runs fixed benchmark questions from evaluation/test_questions.jsonl.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Adds random automotive systems when requested.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Saves every generated answer for manual inspection.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Scores with deterministic 110-point rubric normalized to percent.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Flags unsupported clause-like claims and missing evidence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09160"/>
            <a:ext cx="4983480" cy="713232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4818888"/>
            <a:ext cx="4764024" cy="4937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dirty="0">
                <a:solidFill>
                  <a:srgbClr val="F5F5F5"/>
                </a:solidFill>
                <a:latin typeface="Courier New"/>
              </a:rPr>
              <a:t>.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venv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/bin/python evaluation/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evaluate_models.py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\</a:t>
            </a:r>
            <a:br>
              <a:rPr dirty="0"/>
            </a:br>
            <a:r>
              <a:rPr sz="900" b="0" dirty="0">
                <a:solidFill>
                  <a:srgbClr val="F5F5F5"/>
                </a:solidFill>
                <a:latin typeface="Courier New"/>
              </a:rPr>
              <a:t>  --models 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openai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local_base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</a:t>
            </a:r>
            <a:r>
              <a:rPr sz="900" b="0" dirty="0" err="1">
                <a:solidFill>
                  <a:srgbClr val="F5F5F5"/>
                </a:solidFill>
                <a:latin typeface="Courier New"/>
              </a:rPr>
              <a:t>local_lora</a:t>
            </a:r>
            <a:r>
              <a:rPr sz="900" b="0" dirty="0">
                <a:solidFill>
                  <a:srgbClr val="F5F5F5"/>
                </a:solidFill>
                <a:latin typeface="Courier New"/>
              </a:rPr>
              <a:t> \</a:t>
            </a:r>
            <a:br>
              <a:rPr dirty="0"/>
            </a:br>
            <a:r>
              <a:rPr sz="900" b="0" dirty="0">
                <a:solidFill>
                  <a:srgbClr val="F5F5F5"/>
                </a:solidFill>
                <a:latin typeface="Courier New"/>
              </a:rPr>
              <a:t>  --limit 2 --random-cases 2 --seed 42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37960" y="1234440"/>
          <a:ext cx="4206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Rubric category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 marL="36576" marR="36576" marT="18288" marB="18288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Required sections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HARA quality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26262 lifecycle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SOTIF depth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ISO 8800 depth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Engineering specificity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Hallucination control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5F5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08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MODEL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Latest standards-only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000" b="0" dirty="0">
                <a:solidFill>
                  <a:srgbClr val="BEBEBE"/>
                </a:solidFill>
                <a:latin typeface="Arial"/>
              </a:rPr>
              <a:t>09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704" y="4547874"/>
            <a:ext cx="233172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F5F5F5"/>
                </a:solidFill>
                <a:latin typeface="Arial"/>
              </a:rPr>
              <a:t>OpenAI 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1304" y="4575306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11304" y="4575306"/>
            <a:ext cx="2908889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8089" y="4578059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704" y="5187954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F5F5F5"/>
                </a:solidFill>
                <a:latin typeface="Arial"/>
              </a:rPr>
              <a:t>Local Qwen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1304" y="5215386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11304" y="5216074"/>
            <a:ext cx="2806616" cy="1704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5208306"/>
            <a:ext cx="685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</a:t>
            </a:r>
            <a:r>
              <a:rPr lang="en-US" sz="1000" b="1" dirty="0">
                <a:solidFill>
                  <a:srgbClr val="F5F5F5"/>
                </a:solidFill>
                <a:latin typeface="Arial"/>
              </a:rPr>
              <a:t>4</a:t>
            </a:r>
            <a:r>
              <a:rPr sz="1000" b="1" dirty="0">
                <a:solidFill>
                  <a:srgbClr val="F5F5F5"/>
                </a:solidFill>
                <a:latin typeface="Arial"/>
              </a:rPr>
              <a:t>.</a:t>
            </a:r>
            <a:r>
              <a:rPr lang="en-US" sz="1000" b="1" dirty="0">
                <a:solidFill>
                  <a:srgbClr val="F5F5F5"/>
                </a:solidFill>
                <a:latin typeface="Arial"/>
              </a:rPr>
              <a:t>6</a:t>
            </a:r>
            <a:r>
              <a:rPr sz="1000" b="1" dirty="0">
                <a:solidFill>
                  <a:srgbClr val="F5F5F5"/>
                </a:solidFill>
                <a:latin typeface="Arial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704" y="5828034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dirty="0">
                <a:solidFill>
                  <a:srgbClr val="F5F5F5"/>
                </a:solidFill>
                <a:latin typeface="Arial"/>
              </a:rPr>
              <a:t>Qwen </a:t>
            </a:r>
            <a:r>
              <a:rPr sz="1050" b="1" dirty="0" err="1">
                <a:solidFill>
                  <a:srgbClr val="F5F5F5"/>
                </a:solidFill>
                <a:latin typeface="Arial"/>
              </a:rPr>
              <a:t>LoRA</a:t>
            </a:r>
            <a:endParaRPr sz="1050" b="1" dirty="0">
              <a:solidFill>
                <a:srgbClr val="F5F5F5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11304" y="5855466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8759" y="5828722"/>
            <a:ext cx="685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000" b="1" dirty="0">
                <a:solidFill>
                  <a:srgbClr val="F5F5F5"/>
                </a:solidFill>
                <a:latin typeface="Arial"/>
              </a:rPr>
              <a:t>17</a:t>
            </a:r>
            <a:r>
              <a:rPr sz="1000" b="1" dirty="0">
                <a:solidFill>
                  <a:srgbClr val="F5F5F5"/>
                </a:solidFill>
                <a:latin typeface="Arial"/>
              </a:rPr>
              <a:t>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0056" y="3980946"/>
            <a:ext cx="4480560" cy="24688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8656" y="4191258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8656" y="4621025"/>
            <a:ext cx="38862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OpenAI and local Qwen base both score strongly on the strict answer schema.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LoRA results are kept honest: current endpoint/answer quality is not strong enough for final use.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This is useful evidence that RAG + prompt discipline can outperform a small fine-tune.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223714"/>
            <a:ext cx="102412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BEBEBE"/>
                </a:solidFill>
                <a:latin typeface="Arial"/>
              </a:rPr>
              <a:t>Artifacts: model_eval_20260528_09</a:t>
            </a:r>
            <a:r>
              <a:rPr lang="en-US" sz="1200" b="0" dirty="0">
                <a:solidFill>
                  <a:srgbClr val="BEBEBE"/>
                </a:solidFill>
                <a:latin typeface="Arial"/>
              </a:rPr>
              <a:t>4923</a:t>
            </a:r>
            <a:r>
              <a:rPr sz="1200" b="0" dirty="0">
                <a:solidFill>
                  <a:srgbClr val="BEBEBE"/>
                </a:solidFill>
                <a:latin typeface="Arial"/>
              </a:rPr>
              <a:t>.csv / .md, saved answers, score plot, rubric heatmap.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E55283-737B-E61E-05E7-C0332513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5" y="1252594"/>
            <a:ext cx="6002134" cy="252898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A9A2653-9881-01DF-9AF6-EB7404D989D1}"/>
              </a:ext>
            </a:extLst>
          </p:cNvPr>
          <p:cNvSpPr/>
          <p:nvPr/>
        </p:nvSpPr>
        <p:spPr>
          <a:xfrm>
            <a:off x="3411304" y="5867865"/>
            <a:ext cx="551096" cy="14897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880860-A7E9-43BE-C39D-8E9EE8410FEE}"/>
              </a:ext>
            </a:extLst>
          </p:cNvPr>
          <p:cNvSpPr txBox="1"/>
          <p:nvPr/>
        </p:nvSpPr>
        <p:spPr>
          <a:xfrm>
            <a:off x="626806" y="4165764"/>
            <a:ext cx="960120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de-DE" sz="1050" b="0" dirty="0">
                <a:solidFill>
                  <a:srgbClr val="BEBEBE"/>
                </a:solidFill>
                <a:latin typeface="Arial"/>
              </a:rPr>
              <a:t>Averag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e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evaluation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result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for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each</a:t>
            </a:r>
            <a:r>
              <a:rPr lang="de-DE" sz="1050" dirty="0">
                <a:solidFill>
                  <a:srgbClr val="BEBEBE"/>
                </a:solidFill>
                <a:latin typeface="Arial"/>
              </a:rPr>
              <a:t> </a:t>
            </a:r>
            <a:r>
              <a:rPr lang="de-DE" sz="1050" dirty="0" err="1">
                <a:solidFill>
                  <a:srgbClr val="BEBEBE"/>
                </a:solidFill>
                <a:latin typeface="Arial"/>
              </a:rPr>
              <a:t>model</a:t>
            </a:r>
            <a:endParaRPr sz="1050" b="0" dirty="0">
              <a:solidFill>
                <a:srgbClr val="BEBEBE"/>
              </a:solidFill>
              <a:latin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E8A2474-D64E-EAF0-3ED5-49774DD2F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817" y="1226143"/>
            <a:ext cx="5296723" cy="2570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rial"/>
              </a:rPr>
              <a:t>PAID FEATURE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Video evidence + standards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dirty="0">
                <a:solidFill>
                  <a:srgbClr val="BEBEBE"/>
                </a:solidFill>
                <a:latin typeface="Arial"/>
              </a:rPr>
              <a:t>1</a:t>
            </a:r>
            <a:r>
              <a:rPr lang="en-US" sz="1000" dirty="0">
                <a:solidFill>
                  <a:srgbClr val="BEBEBE"/>
                </a:solidFill>
                <a:latin typeface="Arial"/>
              </a:rPr>
              <a:t>0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527" y="3345622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F5F5F5"/>
                </a:solidFill>
                <a:latin typeface="Arial"/>
              </a:rPr>
              <a:t>Failure +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3127" y="3373054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13127" y="3373054"/>
            <a:ext cx="2866644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2535" y="3363910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27" y="3985702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F5F5F5"/>
                </a:solidFill>
                <a:latin typeface="Arial"/>
              </a:rPr>
              <a:t>Pedestrian edge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3127" y="4013134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3127" y="4013134"/>
            <a:ext cx="2866644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12367" y="3977590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27" y="4625782"/>
            <a:ext cx="233172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>
                <a:solidFill>
                  <a:srgbClr val="F5F5F5"/>
                </a:solidFill>
                <a:latin typeface="Arial"/>
              </a:rPr>
              <a:t>Weather visibility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3127" y="4653214"/>
            <a:ext cx="3017520" cy="16459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3127" y="4653214"/>
            <a:ext cx="2866644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2367" y="4616638"/>
            <a:ext cx="685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 dirty="0">
                <a:solidFill>
                  <a:srgbClr val="F5F5F5"/>
                </a:solidFill>
                <a:latin typeface="Arial"/>
              </a:rPr>
              <a:t>95.0%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870134"/>
            <a:ext cx="4480560" cy="246888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3080446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rial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510213"/>
            <a:ext cx="38862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This is the premium selling point: standards + real video transcript evidence.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Answers include video timestamps, safety interpretation, engineering actions, and evidence limitations.</a:t>
            </a:r>
          </a:p>
          <a:p>
            <a:pPr>
              <a:spcAft>
                <a:spcPts val="200"/>
              </a:spcAft>
              <a:defRPr sz="1280">
                <a:solidFill>
                  <a:srgbClr val="F5F5F5"/>
                </a:solidFill>
                <a:latin typeface="Arial"/>
              </a:defRPr>
            </a:pPr>
            <a:r>
              <a:t>• Latest sample score: 95.0% average across three cases.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527" y="5732206"/>
            <a:ext cx="4937760" cy="658368"/>
          </a:xfrm>
          <a:prstGeom prst="roundRect">
            <a:avLst/>
          </a:prstGeom>
          <a:solidFill>
            <a:srgbClr val="030303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254" y="5841934"/>
            <a:ext cx="4718304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Courier New"/>
              </a:rPr>
              <a:t>.venv/bin/python evaluation/evaluate_video_standard.py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6327" y="5805358"/>
            <a:ext cx="4846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BEBEBE"/>
                </a:solidFill>
                <a:latin typeface="Arial"/>
              </a:rPr>
              <a:t>Outputs: video_standard_eval_20260528_110341.csv/.md, saved answers, video-standard score graph, heatmap.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D228A-85EC-57F5-6CC3-FC181A5F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87" y="1317225"/>
            <a:ext cx="7772400" cy="1370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BE9D30-FDB4-9E00-C93F-32D11339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575F6B-C4B6-37C1-AB31-625F16CEB022}"/>
              </a:ext>
            </a:extLst>
          </p:cNvPr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Model Comparison Summary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490939-DF02-AC9C-462E-A2487EF05389}"/>
              </a:ext>
            </a:extLst>
          </p:cNvPr>
          <p:cNvSpPr/>
          <p:nvPr/>
        </p:nvSpPr>
        <p:spPr>
          <a:xfrm>
            <a:off x="594360" y="1234440"/>
            <a:ext cx="1828800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DD6F6E-112D-1269-C480-16EFCA157FD5}"/>
              </a:ext>
            </a:extLst>
          </p:cNvPr>
          <p:cNvSpPr/>
          <p:nvPr/>
        </p:nvSpPr>
        <p:spPr>
          <a:xfrm>
            <a:off x="2423160" y="1234440"/>
            <a:ext cx="3749039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How it reasons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0DAF3A-0020-2EB0-3201-DE5E1C0663F1}"/>
              </a:ext>
            </a:extLst>
          </p:cNvPr>
          <p:cNvSpPr/>
          <p:nvPr/>
        </p:nvSpPr>
        <p:spPr>
          <a:xfrm>
            <a:off x="6172200" y="1234440"/>
            <a:ext cx="2788920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8D7BDB-1E60-D94E-4362-9D0D9F2BA8F8}"/>
              </a:ext>
            </a:extLst>
          </p:cNvPr>
          <p:cNvSpPr/>
          <p:nvPr/>
        </p:nvSpPr>
        <p:spPr>
          <a:xfrm>
            <a:off x="8961120" y="1234440"/>
            <a:ext cx="2651760" cy="41148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Current limitation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41B2B-A5CF-08B5-4AF7-664BA7E06DFF}"/>
              </a:ext>
            </a:extLst>
          </p:cNvPr>
          <p:cNvSpPr/>
          <p:nvPr/>
        </p:nvSpPr>
        <p:spPr>
          <a:xfrm>
            <a:off x="594360" y="1645920"/>
            <a:ext cx="182880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1">
                <a:solidFill>
                  <a:srgbClr val="F5F5F5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55D4FB-1175-F813-8CAE-9867EBF3B18C}"/>
              </a:ext>
            </a:extLst>
          </p:cNvPr>
          <p:cNvSpPr/>
          <p:nvPr/>
        </p:nvSpPr>
        <p:spPr>
          <a:xfrm>
            <a:off x="2423160" y="1645920"/>
            <a:ext cx="3749039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LangChain tool-calling agent over standards + video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B2C18-C994-25D3-4822-1BB054611E1F}"/>
              </a:ext>
            </a:extLst>
          </p:cNvPr>
          <p:cNvSpPr/>
          <p:nvPr/>
        </p:nvSpPr>
        <p:spPr>
          <a:xfrm>
            <a:off x="6172200" y="1645920"/>
            <a:ext cx="278892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Best quality, dynamic retrieval, paid feature path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4CFAA1-6E65-E920-FC11-9689E7953B4A}"/>
              </a:ext>
            </a:extLst>
          </p:cNvPr>
          <p:cNvSpPr/>
          <p:nvPr/>
        </p:nvSpPr>
        <p:spPr>
          <a:xfrm>
            <a:off x="8961120" y="1645920"/>
            <a:ext cx="265176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Uses paid API and external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BEF3D-610A-6D1C-633E-5A9F971D9DEF}"/>
              </a:ext>
            </a:extLst>
          </p:cNvPr>
          <p:cNvSpPr/>
          <p:nvPr/>
        </p:nvSpPr>
        <p:spPr>
          <a:xfrm>
            <a:off x="594360" y="2395728"/>
            <a:ext cx="182880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1">
                <a:solidFill>
                  <a:srgbClr val="F5F5F5"/>
                </a:solidFill>
                <a:latin typeface="Aptos"/>
              </a:defRPr>
            </a:pPr>
            <a:r>
              <a:t>Local Qwen 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A25CE7-0447-8519-4098-5892CD2C17C0}"/>
              </a:ext>
            </a:extLst>
          </p:cNvPr>
          <p:cNvSpPr/>
          <p:nvPr/>
        </p:nvSpPr>
        <p:spPr>
          <a:xfrm>
            <a:off x="2423160" y="2395728"/>
            <a:ext cx="3749039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Pre-retrieved local standards context + strict 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8D7F71-D8BD-00FA-A7F6-AA7AA59FF797}"/>
              </a:ext>
            </a:extLst>
          </p:cNvPr>
          <p:cNvSpPr/>
          <p:nvPr/>
        </p:nvSpPr>
        <p:spPr>
          <a:xfrm>
            <a:off x="6172200" y="2395728"/>
            <a:ext cx="278892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Free/private path, strong with RAG guardrails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FD7833-6154-811F-23B6-F15BA6A13271}"/>
              </a:ext>
            </a:extLst>
          </p:cNvPr>
          <p:cNvSpPr/>
          <p:nvPr/>
        </p:nvSpPr>
        <p:spPr>
          <a:xfrm>
            <a:off x="8961120" y="2395728"/>
            <a:ext cx="265176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No direct tool loop, slower local generation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CDF9B-9064-F3D2-EF30-28772A107487}"/>
              </a:ext>
            </a:extLst>
          </p:cNvPr>
          <p:cNvSpPr/>
          <p:nvPr/>
        </p:nvSpPr>
        <p:spPr>
          <a:xfrm>
            <a:off x="594360" y="3145536"/>
            <a:ext cx="182880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1">
                <a:solidFill>
                  <a:srgbClr val="F5F5F5"/>
                </a:solidFill>
                <a:latin typeface="Aptos"/>
              </a:defRPr>
            </a:pPr>
            <a:r>
              <a:t>Qwen LoRA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5AC8AE-0E25-F97E-9145-D1E9F2994B5F}"/>
              </a:ext>
            </a:extLst>
          </p:cNvPr>
          <p:cNvSpPr/>
          <p:nvPr/>
        </p:nvSpPr>
        <p:spPr>
          <a:xfrm>
            <a:off x="2423160" y="3145536"/>
            <a:ext cx="3749039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rPr dirty="0" err="1"/>
              <a:t>Colab</a:t>
            </a:r>
            <a:r>
              <a:rPr dirty="0"/>
              <a:t>-served adapter + local RAG prompt 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A9DA19-D270-F679-BADF-309F08FBDC89}"/>
              </a:ext>
            </a:extLst>
          </p:cNvPr>
          <p:cNvSpPr/>
          <p:nvPr/>
        </p:nvSpPr>
        <p:spPr>
          <a:xfrm>
            <a:off x="6172200" y="3145536"/>
            <a:ext cx="278892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Proves fine-tuning workflow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7E1BCD-CD5D-2FF0-C063-8696B4954ABF}"/>
              </a:ext>
            </a:extLst>
          </p:cNvPr>
          <p:cNvSpPr/>
          <p:nvPr/>
        </p:nvSpPr>
        <p:spPr>
          <a:xfrm>
            <a:off x="8961120" y="3145536"/>
            <a:ext cx="2651760" cy="713232"/>
          </a:xfrm>
          <a:prstGeom prst="rect">
            <a:avLst/>
          </a:prstGeom>
          <a:solidFill>
            <a:srgbClr val="0C0E12"/>
          </a:solidFill>
          <a:ln w="889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54864" rIns="54864" rtlCol="0" anchor="ctr"/>
          <a:lstStyle/>
          <a:p>
            <a:pPr algn="ctr">
              <a:defRPr sz="900" b="0">
                <a:solidFill>
                  <a:srgbClr val="BCBCBC"/>
                </a:solidFill>
                <a:latin typeface="Aptos"/>
              </a:defRPr>
            </a:pPr>
            <a:r>
              <a:t>Only 30 synthetic examples; endpoint/GPU instability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CC6BBBE-D5A0-A624-E605-9740E021A6B5}"/>
              </a:ext>
            </a:extLst>
          </p:cNvPr>
          <p:cNvSpPr/>
          <p:nvPr/>
        </p:nvSpPr>
        <p:spPr>
          <a:xfrm>
            <a:off x="777240" y="4754880"/>
            <a:ext cx="10652760" cy="77724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Takeaway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The strongest product story is OpenAI for premium standards+video evidence, local Qwen base for free/private standards reasoning, and LoRA as a future fine-tuning improvement path.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0E5824-F5EA-C271-5076-8C6C5BABC33F}"/>
              </a:ext>
            </a:extLst>
          </p:cNvPr>
          <p:cNvSpPr txBox="1"/>
          <p:nvPr/>
        </p:nvSpPr>
        <p:spPr>
          <a:xfrm>
            <a:off x="11109960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dirty="0">
                <a:solidFill>
                  <a:srgbClr val="BEBEBE"/>
                </a:solidFill>
                <a:latin typeface="Arial"/>
              </a:rPr>
              <a:t>1</a:t>
            </a:r>
            <a:r>
              <a:rPr lang="en-US" sz="1000" b="0" dirty="0">
                <a:solidFill>
                  <a:srgbClr val="BEBEBE"/>
                </a:solidFill>
                <a:latin typeface="Arial"/>
              </a:rPr>
              <a:t>1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D16F7-7E5B-6772-6CFA-4FE544971FEA}"/>
              </a:ext>
            </a:extLst>
          </p:cNvPr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1980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rial"/>
              </a:rPr>
              <a:t>CONCLUSION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9601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>
                <a:solidFill>
                  <a:srgbClr val="BEBEBE"/>
                </a:solidFill>
                <a:latin typeface="Arial"/>
              </a:rPr>
              <a:t>Closing argument and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21535" y="292608"/>
            <a:ext cx="50292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000" b="0" dirty="0">
                <a:solidFill>
                  <a:srgbClr val="BEBEBE"/>
                </a:solidFill>
                <a:latin typeface="Arial"/>
              </a:rPr>
              <a:t>12</a:t>
            </a:r>
            <a:endParaRPr sz="1000" b="0" dirty="0">
              <a:solidFill>
                <a:srgbClr val="BEBEBE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44200" cy="4389120"/>
          </a:xfrm>
          <a:prstGeom prst="roundRect">
            <a:avLst/>
          </a:prstGeom>
          <a:solidFill>
            <a:srgbClr val="080808"/>
          </a:solidFill>
          <a:ln w="1524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720" y="1444752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Final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195560" cy="100540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This is a standards-aware safety analysis workflow, not a generic chatbot.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It demonstrates RAG, tool use, local model integration, </a:t>
            </a:r>
            <a:r>
              <a:rPr dirty="0" err="1"/>
              <a:t>LoRA</a:t>
            </a:r>
            <a:r>
              <a:rPr dirty="0"/>
              <a:t> experimentation, audio input/output, video evidence, and quantitative evaluation.</a:t>
            </a:r>
          </a:p>
          <a:p>
            <a:pPr>
              <a:spcAft>
                <a:spcPts val="2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rPr dirty="0"/>
              <a:t>• The strongest engineering lesson: structured retrieval and evaluation matter as much as model choice.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D74C2-AD49-019B-E32F-83BC45E2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DFAAAE3-ADA4-1BA2-10EE-E9A5390FA25C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AF3F260-C7E8-7F52-EECA-32F46EBBABBE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B356DBF-AEA6-6A7A-CCB5-19A7CEC06385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837AF0E-ACCB-E8DC-E75E-6573A887E272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FF23C7-D99D-8C93-676C-2E96B1AB85E8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 dirty="0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B2E8-312D-4C5A-9BC1-4094A33F3B19}"/>
              </a:ext>
            </a:extLst>
          </p:cNvPr>
          <p:cNvSpPr txBox="1"/>
          <p:nvPr/>
        </p:nvSpPr>
        <p:spPr>
          <a:xfrm>
            <a:off x="424261" y="3198167"/>
            <a:ext cx="11689077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Architecture Annex</a:t>
            </a:r>
            <a:endParaRPr sz="2400" b="1" dirty="0">
              <a:solidFill>
                <a:srgbClr val="F5F5F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25864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End-to-End Architecture: User Request to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41732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User Request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text prompt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speech input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scenario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234440"/>
            <a:ext cx="164592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Streamlit App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mode selector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standards selector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model selector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173736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Prompt Builder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scope standards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strict answer scheme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173736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RAG Context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standards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transcript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examples/profiles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234440"/>
            <a:ext cx="1828800" cy="96012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Reasoning Backend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OpenAI tools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Qwen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LoRA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189" y="1234439"/>
            <a:ext cx="1223131" cy="1161283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6  Structured Output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safety case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tables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1709928"/>
            <a:ext cx="32004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86200" y="1709928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1709928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1709928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87000" y="1709928"/>
            <a:ext cx="27432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3703320"/>
            <a:ext cx="1965960" cy="11430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7  Evaluation Runner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fixed benchmark cases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random systems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selected model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3703320"/>
            <a:ext cx="2011680" cy="11430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8  Rubric + Checks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required sections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quality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ISO/SOTIF/ISO 8800 depth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hallucination flags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703320"/>
            <a:ext cx="2011680" cy="11430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9  Artifacts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CSV report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Markdown report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saved answers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graphs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0" y="4270248"/>
            <a:ext cx="50292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66360" y="4270248"/>
            <a:ext cx="50292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endCxn id="19" idx="0"/>
          </p:cNvCxnSpPr>
          <p:nvPr/>
        </p:nvCxnSpPr>
        <p:spPr>
          <a:xfrm flipH="1">
            <a:off x="1668780" y="2395722"/>
            <a:ext cx="8892540" cy="1307598"/>
          </a:xfrm>
          <a:prstGeom prst="line">
            <a:avLst/>
          </a:prstGeom>
          <a:ln w="2159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3399" y="969258"/>
            <a:ext cx="20116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 dirty="0">
                <a:solidFill>
                  <a:srgbClr val="BCBCBC"/>
                </a:solidFill>
                <a:latin typeface="Aptos"/>
              </a:rPr>
              <a:t>Live app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9064" y="3033744"/>
            <a:ext cx="4343400" cy="256032"/>
          </a:xfrm>
          <a:prstGeom prst="roundRect">
            <a:avLst/>
          </a:prstGeom>
          <a:solidFill>
            <a:srgbClr val="141414"/>
          </a:solidFill>
          <a:ln w="1016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 b="1">
                <a:solidFill>
                  <a:srgbClr val="F5F5F5"/>
                </a:solidFill>
                <a:latin typeface="Aptos"/>
              </a:defRPr>
            </a:pPr>
            <a:r>
              <a:rPr dirty="0"/>
              <a:t>Evaluation is a separate reproducibility path, not part of every live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1908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BCBCBC"/>
                </a:solidFill>
                <a:latin typeface="Aptos"/>
              </a:rPr>
              <a:t>Annex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Shared Front-End + Prompt Conditioning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210312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Input Channels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typed request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speech-to-text request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structured scenario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143000"/>
            <a:ext cx="210312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Streamlit State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chat history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selected standards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backend selection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voice output toggle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143000"/>
            <a:ext cx="214884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Scoped Prompt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adds ISO scope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preserves original question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allows unknown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2743200" cy="13258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Answer Contract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opening map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functional decomposition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S/E/C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lifecycle + V&amp;V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final safety argument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181051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57800" y="181051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18120" y="181051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3246120"/>
            <a:ext cx="3794760" cy="128016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Why this matters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prevents short chatbot summaries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makes missing assumptions explicit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creates a common answer shape for all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3246120"/>
            <a:ext cx="3794760" cy="128016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Backend-neutral design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OpenAI, Qwen base, and </a:t>
            </a:r>
            <a:r>
              <a:rPr dirty="0" err="1"/>
              <a:t>LoRA</a:t>
            </a:r>
            <a:r>
              <a:rPr dirty="0"/>
              <a:t> receive the same task intent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model differences become easier to evaluate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3246120"/>
            <a:ext cx="2057400" cy="128016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Output hooks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optional TTS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evidence cards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timestamp playback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19088"/>
            <a:ext cx="914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BCBCBC"/>
                </a:solidFill>
                <a:latin typeface="Aptos"/>
              </a:rPr>
              <a:t>Annex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36305"/>
            <a:ext cx="11689077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1</a:t>
            </a:r>
            <a:r>
              <a:rPr lang="en-US" sz="2400" b="1" baseline="30000" dirty="0">
                <a:solidFill>
                  <a:srgbClr val="F5F5F5"/>
                </a:solidFill>
                <a:latin typeface="Aptos"/>
              </a:rPr>
              <a:t>st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Model:</a:t>
            </a:r>
          </a:p>
          <a:p>
            <a:pPr algn="ctr"/>
            <a:r>
              <a:rPr sz="2400" b="1" dirty="0">
                <a:solidFill>
                  <a:srgbClr val="F5F5F5"/>
                </a:solidFill>
                <a:latin typeface="Aptos"/>
              </a:rPr>
              <a:t>OpenAI Path: </a:t>
            </a:r>
            <a:r>
              <a:rPr sz="2400" b="1" dirty="0" err="1">
                <a:solidFill>
                  <a:srgbClr val="F5F5F5"/>
                </a:solidFill>
                <a:latin typeface="Aptos"/>
              </a:rPr>
              <a:t>LangChain</a:t>
            </a:r>
            <a:r>
              <a:rPr sz="2400" b="1" dirty="0">
                <a:solidFill>
                  <a:srgbClr val="F5F5F5"/>
                </a:solidFill>
                <a:latin typeface="Aptos"/>
              </a:rPr>
              <a:t> Tool-Calling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4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87F74-9D52-76A8-83D4-910C9C0B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8CA5057-F78B-EE23-F0A7-D1DF18A56CFE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61244C7-5BA5-0B7F-1D42-581D5F6A6704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BBD9667-8AD8-46A7-9A59-C4C37AB99E27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2CB5883-1187-4B45-32C4-AC536EF6B238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7754E7-2890-780A-F8C6-084604391D9E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A2DDD-CA1E-B420-0ECA-1C4BE80982E4}"/>
              </a:ext>
            </a:extLst>
          </p:cNvPr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OpenAI Path: LangChain Tool-Calling Agent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CE2C54-BD63-E93B-BE51-5F3F597076D8}"/>
              </a:ext>
            </a:extLst>
          </p:cNvPr>
          <p:cNvSpPr/>
          <p:nvPr/>
        </p:nvSpPr>
        <p:spPr>
          <a:xfrm>
            <a:off x="502920" y="1051560"/>
            <a:ext cx="1874519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A 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get_agent</a:t>
            </a:r>
            <a:r>
              <a:rPr dirty="0"/>
              <a:t>()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cached with </a:t>
            </a:r>
            <a:r>
              <a:rPr dirty="0" err="1"/>
              <a:t>st.cache_resource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B054A3-358D-A96A-3DF9-2A5F2B397360}"/>
              </a:ext>
            </a:extLst>
          </p:cNvPr>
          <p:cNvSpPr/>
          <p:nvPr/>
        </p:nvSpPr>
        <p:spPr>
          <a:xfrm>
            <a:off x="2743200" y="1051560"/>
            <a:ext cx="164592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B  </a:t>
            </a:r>
            <a:r>
              <a:rPr dirty="0" err="1"/>
              <a:t>ChatOpenAI</a:t>
            </a:r>
            <a:endParaRPr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temperature 0.1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premium reasoning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23EABF-98D4-88B7-5D4C-1CEE8F5C4208}"/>
              </a:ext>
            </a:extLst>
          </p:cNvPr>
          <p:cNvSpPr/>
          <p:nvPr/>
        </p:nvSpPr>
        <p:spPr>
          <a:xfrm>
            <a:off x="4611329" y="1051559"/>
            <a:ext cx="2109511" cy="1078991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C  </a:t>
            </a:r>
            <a:r>
              <a:rPr dirty="0" err="1"/>
              <a:t>ChatPromptTemplate</a:t>
            </a:r>
            <a:endParaRPr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SYSTEM_PROMPT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chat_history</a:t>
            </a:r>
            <a:endParaRPr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human input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agent_scratchpad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EC977B-67AA-543C-622C-6B216FA1F627}"/>
              </a:ext>
            </a:extLst>
          </p:cNvPr>
          <p:cNvSpPr/>
          <p:nvPr/>
        </p:nvSpPr>
        <p:spPr>
          <a:xfrm>
            <a:off x="7086600" y="1051560"/>
            <a:ext cx="169164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D  AgentExecutor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max 6 iterations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parsing recovery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3D02E2-29B6-C524-8AE5-0308A169B20A}"/>
              </a:ext>
            </a:extLst>
          </p:cNvPr>
          <p:cNvSpPr/>
          <p:nvPr/>
        </p:nvSpPr>
        <p:spPr>
          <a:xfrm>
            <a:off x="9144000" y="1051560"/>
            <a:ext cx="224028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E  Final Answer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structured safety output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reviewed for lifecycle/HARA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51737028-132F-37CB-3213-29E39529A2F9}"/>
              </a:ext>
            </a:extLst>
          </p:cNvPr>
          <p:cNvCxnSpPr/>
          <p:nvPr/>
        </p:nvCxnSpPr>
        <p:spPr>
          <a:xfrm>
            <a:off x="2377440" y="1463040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E66CB175-2225-8A94-7471-FD3E11FED5BD}"/>
              </a:ext>
            </a:extLst>
          </p:cNvPr>
          <p:cNvCxnSpPr>
            <a:cxnSpLocks/>
          </p:cNvCxnSpPr>
          <p:nvPr/>
        </p:nvCxnSpPr>
        <p:spPr>
          <a:xfrm>
            <a:off x="4389120" y="1463040"/>
            <a:ext cx="222209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07A355B8-5A38-ACAA-4530-D1DC58AA700E}"/>
              </a:ext>
            </a:extLst>
          </p:cNvPr>
          <p:cNvCxnSpPr/>
          <p:nvPr/>
        </p:nvCxnSpPr>
        <p:spPr>
          <a:xfrm>
            <a:off x="6720840" y="1463040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DED94D60-D1B1-BE3E-DD63-6837768051EA}"/>
              </a:ext>
            </a:extLst>
          </p:cNvPr>
          <p:cNvCxnSpPr/>
          <p:nvPr/>
        </p:nvCxnSpPr>
        <p:spPr>
          <a:xfrm>
            <a:off x="8778240" y="1463040"/>
            <a:ext cx="36576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2E4CF8-4DF3-5F86-B640-4BD2DE748259}"/>
              </a:ext>
            </a:extLst>
          </p:cNvPr>
          <p:cNvSpPr/>
          <p:nvPr/>
        </p:nvSpPr>
        <p:spPr>
          <a:xfrm>
            <a:off x="685800" y="2743200"/>
            <a:ext cx="2834640" cy="214884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11 LangChain Tools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evidence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failure-case video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standards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specific standard search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dataset profiles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project safety examples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E30EED-D7E6-3B53-F851-4AFC35D56640}"/>
              </a:ext>
            </a:extLst>
          </p:cNvPr>
          <p:cNvSpPr/>
          <p:nvPr/>
        </p:nvSpPr>
        <p:spPr>
          <a:xfrm>
            <a:off x="3886200" y="2743200"/>
            <a:ext cx="2834640" cy="214884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Standards Guidance Tools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SOTIF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8800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26262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safety lifecycle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guidance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486EBB-E684-0C26-9384-C09D04AFCBC6}"/>
              </a:ext>
            </a:extLst>
          </p:cNvPr>
          <p:cNvSpPr/>
          <p:nvPr/>
        </p:nvSpPr>
        <p:spPr>
          <a:xfrm>
            <a:off x="7086600" y="2743200"/>
            <a:ext cx="2834640" cy="214884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Retrieval Engine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MultiQueryRetriever expands query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Chroma standards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Chroma video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dedupe + formatted evidence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7F0ACF4F-EA01-04D3-4265-EF75AEADF269}"/>
              </a:ext>
            </a:extLst>
          </p:cNvPr>
          <p:cNvCxnSpPr/>
          <p:nvPr/>
        </p:nvCxnSpPr>
        <p:spPr>
          <a:xfrm>
            <a:off x="7909560" y="1874519"/>
            <a:ext cx="0" cy="868681"/>
          </a:xfrm>
          <a:prstGeom prst="line">
            <a:avLst/>
          </a:prstGeom>
          <a:ln w="2159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77799301-DBA5-F88A-37B5-1818BABA59DE}"/>
              </a:ext>
            </a:extLst>
          </p:cNvPr>
          <p:cNvCxnSpPr>
            <a:cxnSpLocks/>
          </p:cNvCxnSpPr>
          <p:nvPr/>
        </p:nvCxnSpPr>
        <p:spPr>
          <a:xfrm flipH="1" flipV="1">
            <a:off x="6675121" y="2054942"/>
            <a:ext cx="411479" cy="1767249"/>
          </a:xfrm>
          <a:prstGeom prst="line">
            <a:avLst/>
          </a:prstGeom>
          <a:ln w="2159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95625A-B5E0-95A2-B96C-BEB39A4B9E3B}"/>
              </a:ext>
            </a:extLst>
          </p:cNvPr>
          <p:cNvSpPr/>
          <p:nvPr/>
        </p:nvSpPr>
        <p:spPr>
          <a:xfrm>
            <a:off x="10012680" y="2743200"/>
            <a:ext cx="1600200" cy="214884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Second-pass quality review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checks HARA coverage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checks ISO 26262 Parts 2-9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rewrites only missing coverage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0B152-100C-6DC8-2F65-DD23F95C3FEA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5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4073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ADE8E-91FD-6780-82AF-6A8D0CD5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6210C2C2-BACC-111B-F717-EBA1569750ED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2FBCBED-C075-57AE-604C-36BA6F3347B6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7D6ECDB-0B35-3366-4AA3-0A0C0219F650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4165102-8D51-43D6-1B51-B22DB2DA4077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FD54BC-57CC-210F-65B2-FCE5FAA3EEFB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FD2E7-E8F7-DBAB-D748-170411904949}"/>
              </a:ext>
            </a:extLst>
          </p:cNvPr>
          <p:cNvSpPr txBox="1"/>
          <p:nvPr/>
        </p:nvSpPr>
        <p:spPr>
          <a:xfrm>
            <a:off x="502920" y="2936305"/>
            <a:ext cx="11689077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2</a:t>
            </a:r>
            <a:r>
              <a:rPr lang="en-US" sz="2400" b="1" baseline="30000" dirty="0">
                <a:solidFill>
                  <a:srgbClr val="F5F5F5"/>
                </a:solidFill>
                <a:latin typeface="Aptos"/>
              </a:rPr>
              <a:t>nd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Model:</a:t>
            </a:r>
          </a:p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Local Qwen Base Path: Pre-Retrieval RAG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28E43-E4B5-04C9-3070-3AD21DF74E6B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dirty="0">
                <a:solidFill>
                  <a:srgbClr val="BCBCBC"/>
                </a:solidFill>
                <a:latin typeface="Aptos"/>
              </a:rPr>
              <a:t>6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3765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4C545-30C2-4D62-2B67-74BE6426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48DE304B-D9A2-9030-3423-CE0239E00E1F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7C50AC1-4777-217F-E3EA-AF88E05CFF03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BB82BB-7DEF-898B-279A-93E02C0ECE1C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F4F2421-6F34-0A04-D9B0-8109EFA28478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656D2A-3D11-3795-DF9E-913DCDAB144F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D5E96-935E-4475-1E5B-1B08BA80CCE8}"/>
              </a:ext>
            </a:extLst>
          </p:cNvPr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"/>
              </a:rPr>
              <a:t>Local Qwen Base Path: Pre-Retrieval RAG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4E0AA5-F2ED-B9BC-FA75-00DB7C5C47C8}"/>
              </a:ext>
            </a:extLst>
          </p:cNvPr>
          <p:cNvSpPr/>
          <p:nvPr/>
        </p:nvSpPr>
        <p:spPr>
          <a:xfrm>
            <a:off x="594360" y="1143000"/>
            <a:ext cx="173736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User Question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 scoped prompt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0AC2D8-0228-01B2-A73B-E6FF04C03E79}"/>
              </a:ext>
            </a:extLst>
          </p:cNvPr>
          <p:cNvSpPr/>
          <p:nvPr/>
        </p:nvSpPr>
        <p:spPr>
          <a:xfrm>
            <a:off x="2788920" y="1143000"/>
            <a:ext cx="196596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Local Retrieval Planner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selects standards queries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no tool-calling loop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AE5DBA-F081-45F8-AC88-548AB87513B2}"/>
              </a:ext>
            </a:extLst>
          </p:cNvPr>
          <p:cNvSpPr/>
          <p:nvPr/>
        </p:nvSpPr>
        <p:spPr>
          <a:xfrm>
            <a:off x="5212080" y="1143000"/>
            <a:ext cx="196596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Local Context Pack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ISO evidence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SOTIF / ISO 8800 guidance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project examples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81DA07-72F1-2FEF-2199-8239B16811A0}"/>
              </a:ext>
            </a:extLst>
          </p:cNvPr>
          <p:cNvSpPr/>
          <p:nvPr/>
        </p:nvSpPr>
        <p:spPr>
          <a:xfrm>
            <a:off x="7635240" y="1143000"/>
            <a:ext cx="169164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Ollama Qwen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inference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free/private path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848905-51C1-DAED-8E09-6215093E9471}"/>
              </a:ext>
            </a:extLst>
          </p:cNvPr>
          <p:cNvSpPr/>
          <p:nvPr/>
        </p:nvSpPr>
        <p:spPr>
          <a:xfrm>
            <a:off x="9738360" y="1143000"/>
            <a:ext cx="1783080" cy="82296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Completeness Guard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same-model revision if sections missing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4D16C4B2-90D9-8F55-A2CD-114B32AD5B58}"/>
              </a:ext>
            </a:extLst>
          </p:cNvPr>
          <p:cNvCxnSpPr/>
          <p:nvPr/>
        </p:nvCxnSpPr>
        <p:spPr>
          <a:xfrm>
            <a:off x="2331720" y="1554480"/>
            <a:ext cx="45720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E3D2BB83-66FD-2101-91C6-E1CEC7616841}"/>
              </a:ext>
            </a:extLst>
          </p:cNvPr>
          <p:cNvCxnSpPr/>
          <p:nvPr/>
        </p:nvCxnSpPr>
        <p:spPr>
          <a:xfrm>
            <a:off x="4754880" y="1554480"/>
            <a:ext cx="45720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E52CB16A-74E0-10AD-58A3-1A9DEAE2B02B}"/>
              </a:ext>
            </a:extLst>
          </p:cNvPr>
          <p:cNvCxnSpPr/>
          <p:nvPr/>
        </p:nvCxnSpPr>
        <p:spPr>
          <a:xfrm>
            <a:off x="7178040" y="1554480"/>
            <a:ext cx="45720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6C55B72C-494B-4423-11F1-50990D6AF8DC}"/>
              </a:ext>
            </a:extLst>
          </p:cNvPr>
          <p:cNvCxnSpPr/>
          <p:nvPr/>
        </p:nvCxnSpPr>
        <p:spPr>
          <a:xfrm>
            <a:off x="9326880" y="1554480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603A869-723D-2E52-C3E5-EEB1098E9FCD}"/>
              </a:ext>
            </a:extLst>
          </p:cNvPr>
          <p:cNvSpPr/>
          <p:nvPr/>
        </p:nvSpPr>
        <p:spPr>
          <a:xfrm>
            <a:off x="822960" y="2880360"/>
            <a:ext cx="3291840" cy="141732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Why not direct LangChain tools?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model tool calls can be malformed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pre-retrieval is more stable for demos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keeps context deterministic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5066331-590C-69BC-A4C2-4DC0BBC33057}"/>
              </a:ext>
            </a:extLst>
          </p:cNvPr>
          <p:cNvSpPr/>
          <p:nvPr/>
        </p:nvSpPr>
        <p:spPr>
          <a:xfrm>
            <a:off x="4480560" y="2880360"/>
            <a:ext cx="3291840" cy="141732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What it still uses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standards Chroma DB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embeddings for free model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 answer schema as OpenAI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315473D-C47F-A102-48E0-91DE2883FD39}"/>
              </a:ext>
            </a:extLst>
          </p:cNvPr>
          <p:cNvSpPr/>
          <p:nvPr/>
        </p:nvSpPr>
        <p:spPr>
          <a:xfrm>
            <a:off x="8138160" y="2880360"/>
            <a:ext cx="2834640" cy="141732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Result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strong baseline performance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private/local option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no video DB in local answer path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32A23D-8BD0-DEC4-F7D6-89C4B83BB4B6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x</a:t>
            </a:r>
            <a:r>
              <a:rPr sz="800" b="0" dirty="0">
                <a:solidFill>
                  <a:srgbClr val="BCBCBC"/>
                </a:solidFill>
                <a:latin typeface="Aptos"/>
              </a:rPr>
              <a:t> </a:t>
            </a:r>
            <a:r>
              <a:rPr lang="en-US" sz="800" dirty="0">
                <a:solidFill>
                  <a:srgbClr val="BCBCBC"/>
                </a:solidFill>
                <a:latin typeface="Aptos"/>
              </a:rPr>
              <a:t>7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89305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F2278-CC9C-B525-F70B-5DD3E448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2832747D-9B1B-026C-D809-1D021FB50241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B364113-863D-5FEB-32ED-B1898A943170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29823A3-EF6E-AE4F-D47C-DFEEA2B71C35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0C4FC5C-8123-5193-F295-F652ACD894F4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7AE158-2C80-20D7-526E-16C6FD2476F8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37D95-9C14-D359-4E1A-AD6E16974E6C}"/>
              </a:ext>
            </a:extLst>
          </p:cNvPr>
          <p:cNvSpPr txBox="1"/>
          <p:nvPr/>
        </p:nvSpPr>
        <p:spPr>
          <a:xfrm>
            <a:off x="502920" y="2936305"/>
            <a:ext cx="11689077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3</a:t>
            </a:r>
            <a:r>
              <a:rPr lang="en-US" sz="2400" b="1" baseline="30000" dirty="0">
                <a:solidFill>
                  <a:srgbClr val="F5F5F5"/>
                </a:solidFill>
                <a:latin typeface="Aptos"/>
              </a:rPr>
              <a:t>rd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Model:</a:t>
            </a:r>
          </a:p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Fine-Tuned </a:t>
            </a:r>
            <a:r>
              <a:rPr lang="en-US" sz="2400" b="1" dirty="0" err="1">
                <a:solidFill>
                  <a:srgbClr val="F5F5F5"/>
                </a:solidFill>
                <a:latin typeface="Aptos"/>
              </a:rPr>
              <a:t>LoRA</a:t>
            </a:r>
            <a:r>
              <a:rPr lang="en-US" sz="2400" b="1" dirty="0">
                <a:solidFill>
                  <a:srgbClr val="F5F5F5"/>
                </a:solidFill>
                <a:latin typeface="Aptos"/>
              </a:rPr>
              <a:t> Path: Experiment and Serving Flow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B60F4-DF20-BD4E-AD4A-C231A46B4EBF}"/>
              </a:ext>
            </a:extLst>
          </p:cNvPr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8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86108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"/>
              </a:rPr>
              <a:t>Fine-Tuned </a:t>
            </a:r>
            <a:r>
              <a:rPr sz="2400" b="1" dirty="0" err="1">
                <a:solidFill>
                  <a:srgbClr val="F5F5F5"/>
                </a:solidFill>
                <a:latin typeface="Aptos"/>
              </a:rPr>
              <a:t>LoRA</a:t>
            </a:r>
            <a:r>
              <a:rPr sz="2400" b="1" dirty="0">
                <a:solidFill>
                  <a:srgbClr val="F5F5F5"/>
                </a:solidFill>
                <a:latin typeface="Aptos"/>
              </a:rPr>
              <a:t> Path: Experiment and Serving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78992"/>
            <a:ext cx="192024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Synthetic SFT Data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30 teacher-generated examples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from seed prompts + retrieved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078992"/>
            <a:ext cx="178308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Colab Training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Qwen LoRA adapter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GPU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078992"/>
            <a:ext cx="178308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Adapter Folder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qwen_safety_lora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saved to Drive/local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078992"/>
            <a:ext cx="1874519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Gradio Endpoint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temporary public URL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LOCAL_LORA_API_URL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078992"/>
            <a:ext cx="1737360" cy="91440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Streamlit Call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gradio_client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returns 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0916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89720" y="1536192"/>
            <a:ext cx="41148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2880360"/>
            <a:ext cx="3108960" cy="13716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Runtime safeguards</a:t>
            </a:r>
            <a:endParaRPr lang="en-US" dirty="0"/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invalid numeric/debug output detection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large output token setting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error message if endpoint unreachable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880360"/>
            <a:ext cx="3108960" cy="13716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rPr dirty="0"/>
              <a:t>Experiment result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pipeline works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small synthetic data is not enough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rPr dirty="0"/>
              <a:t>• not production-quality yet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880360"/>
            <a:ext cx="3108960" cy="13716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Presentation position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show as fine-tuning experiment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local Qwen base remains stronger free path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future work: curated data + stable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9855" y="6419088"/>
            <a:ext cx="440185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9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8A992-9F5F-475B-E2F4-16872B31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1547BC61-0CB4-D369-D158-29E2A564F672}"/>
              </a:ext>
            </a:extLst>
          </p:cNvPr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07390F6-D201-7B43-65C8-2C2BFC4D19B4}"/>
              </a:ext>
            </a:extLst>
          </p:cNvPr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EC98942-BBF0-33A5-0CC9-1A116372A218}"/>
              </a:ext>
            </a:extLst>
          </p:cNvPr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0630C6A-858F-0BF0-CC15-09A93B62CE10}"/>
              </a:ext>
            </a:extLst>
          </p:cNvPr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3A787ED-7DAC-DB9E-CE34-81D7EBC394C9}"/>
              </a:ext>
            </a:extLst>
          </p:cNvPr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0EAD0-A6AA-3CCB-7FD6-BC3EEF47A08F}"/>
              </a:ext>
            </a:extLst>
          </p:cNvPr>
          <p:cNvSpPr txBox="1"/>
          <p:nvPr/>
        </p:nvSpPr>
        <p:spPr>
          <a:xfrm>
            <a:off x="502920" y="3104495"/>
            <a:ext cx="11689077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2400" b="1" dirty="0">
                <a:solidFill>
                  <a:srgbClr val="F5F5F5"/>
                </a:solidFill>
                <a:latin typeface="Aptos"/>
              </a:rPr>
              <a:t>Evaluation Architecture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B74507-8592-AEC2-D8E6-B8D5D635B608}"/>
              </a:ext>
            </a:extLst>
          </p:cNvPr>
          <p:cNvSpPr txBox="1"/>
          <p:nvPr/>
        </p:nvSpPr>
        <p:spPr>
          <a:xfrm>
            <a:off x="11255353" y="6419088"/>
            <a:ext cx="49468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10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36402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20040" y="96012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6172200"/>
            <a:ext cx="1152144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58600" y="411480"/>
            <a:ext cx="0" cy="6035040"/>
          </a:xfrm>
          <a:prstGeom prst="line">
            <a:avLst/>
          </a:prstGeom>
          <a:ln w="12700">
            <a:solidFill>
              <a:srgbClr val="1C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9456"/>
            <a:ext cx="2926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CBCBC"/>
                </a:solidFill>
                <a:latin typeface="Aptos"/>
              </a:rPr>
              <a:t>ARCHITECTURE ANNEX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"/>
              </a:rPr>
              <a:t>Evaluation Architecture: Standards + Video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219456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1  Standards Evaluation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evaluate_models.py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OpenAI + local base + LoRA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fixed + random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26080"/>
            <a:ext cx="219456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2  Video + Standards Evaluation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evaluate_video_standard.py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OpenAI paid path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transcript + ISO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20240"/>
            <a:ext cx="201168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3  Answer Generation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same app model functions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saved Markdown answer per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920240"/>
            <a:ext cx="201168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4  Rubric Scoring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required sections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HARA / lifecycle depth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video evidence use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hallucination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20240"/>
            <a:ext cx="2331720" cy="1097280"/>
          </a:xfrm>
          <a:prstGeom prst="roundRect">
            <a:avLst/>
          </a:prstGeom>
          <a:solidFill>
            <a:srgbClr val="0C0E12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5  Reports + Graphs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CSV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Markdown summary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score bar charts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rubric heatmaps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1600200"/>
            <a:ext cx="548640" cy="64008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88920" y="2514600"/>
            <a:ext cx="548640" cy="96012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9240" y="2468880"/>
            <a:ext cx="54864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09560" y="2468880"/>
            <a:ext cx="548640" cy="0"/>
          </a:xfrm>
          <a:prstGeom prst="line">
            <a:avLst/>
          </a:prstGeom>
          <a:ln w="2159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709160"/>
            <a:ext cx="10515600" cy="685800"/>
          </a:xfrm>
          <a:prstGeom prst="roundRect">
            <a:avLst/>
          </a:prstGeom>
          <a:solidFill>
            <a:srgbClr val="26282C"/>
          </a:solidFill>
          <a:ln w="14604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250" b="1">
                <a:solidFill>
                  <a:srgbClr val="F5F5F5"/>
                </a:solidFill>
                <a:latin typeface="Aptos"/>
              </a:defRPr>
            </a:pPr>
            <a:r>
              <a:t>Evaluation principle</a:t>
            </a:r>
          </a:p>
          <a:p>
            <a:pPr>
              <a:spcAft>
                <a:spcPts val="100"/>
              </a:spcAft>
              <a:defRPr sz="919">
                <a:solidFill>
                  <a:srgbClr val="BCBCBC"/>
                </a:solidFill>
                <a:latin typeface="Aptos"/>
              </a:defRPr>
            </a:pPr>
            <a:r>
              <a:t>• The evaluation path is separate from the live chat path so model quality can be compared with saved answers, reproducible prompts, and visible scoring criteria.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55353" y="6419088"/>
            <a:ext cx="494687" cy="21544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 dirty="0">
                <a:solidFill>
                  <a:srgbClr val="BCBCBC"/>
                </a:solidFill>
                <a:latin typeface="Aptos"/>
              </a:rPr>
              <a:t>Annex </a:t>
            </a:r>
            <a:r>
              <a:rPr lang="en-US" sz="800" b="0" dirty="0">
                <a:solidFill>
                  <a:srgbClr val="BCBCBC"/>
                </a:solidFill>
                <a:latin typeface="Aptos"/>
              </a:rPr>
              <a:t>11</a:t>
            </a:r>
            <a:endParaRPr sz="800" b="0" dirty="0">
              <a:solidFill>
                <a:srgbClr val="BCBCB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2301</Words>
  <Application>Microsoft Macintosh PowerPoint</Application>
  <PresentationFormat>Widescreen</PresentationFormat>
  <Paragraphs>428</Paragraphs>
  <Slides>24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Harn Zhin Chong</cp:lastModifiedBy>
  <cp:revision>10</cp:revision>
  <dcterms:created xsi:type="dcterms:W3CDTF">2013-01-27T09:14:16Z</dcterms:created>
  <dcterms:modified xsi:type="dcterms:W3CDTF">2026-05-29T15:54:08Z</dcterms:modified>
  <cp:category/>
</cp:coreProperties>
</file>